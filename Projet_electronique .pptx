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2e3708260_0_1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2e3708260_0_1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e2e3708260_0_1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3e2e370826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e2e3708260_0_1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e2e3708260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2e3708260_0_6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e2e3708260_0_6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e2e3708260_0_6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e2e3708260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e2e3708260_0_6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e2e3708260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2876fb81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2876fb81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2876fb81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2876fb81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2876fb81d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2876fb81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2e3708260_0_10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2e3708260_0_10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2e3708260_0_10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e2e3708260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2e3708260_0_10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2e3708260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e3708260_7_0)">
  <p:cSld name="Generated (g3e2e3708260_7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365760" y="2667000"/>
            <a:ext cx="3810000" cy="381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365760" y="1333500"/>
            <a:ext cx="8412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365760" y="2809875"/>
            <a:ext cx="8412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rPr>
              <a:t>Projet Électronique : Système de Suivi d'Antenne Wi-Fi</a:t>
            </a:r>
            <a:endParaRPr b="0" sz="1800">
              <a:solidFill>
                <a:srgbClr val="A9CC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365760" y="4667250"/>
            <a:ext cx="8412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ENSEA – Présentation de projet 1/</a:t>
            </a:r>
            <a:r>
              <a:rPr lang="en-US" sz="1000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sz="1000">
              <a:solidFill>
                <a:srgbClr val="5D8A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rofessional high-tech engineering background featuring circuit patterns and mechanical blueprints in deep blue and teal tones, minimalist and clean.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3810" y="1714500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361950" y="457200"/>
            <a:ext cx="8410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Objectifs du projet</a:t>
            </a:r>
            <a:endParaRPr b="1" sz="3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361950" y="1276350"/>
            <a:ext cx="8410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rPr>
              <a:t>Système de Suivi d'Antenne Wi-Fi</a:t>
            </a:r>
            <a:endParaRPr b="0" sz="1800">
              <a:solidFill>
                <a:srgbClr val="A9CC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61950" y="2238375"/>
            <a:ext cx="8410500" cy="28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361950" y="2667000"/>
            <a:ext cx="2590800" cy="1143000"/>
            <a:chOff x="361950" y="2667000"/>
            <a:chExt cx="2590800" cy="1143000"/>
          </a:xfrm>
        </p:grpSpPr>
        <p:sp>
          <p:nvSpPr>
            <p:cNvPr id="39" name="Google Shape;39;p5"/>
            <p:cNvSpPr/>
            <p:nvPr/>
          </p:nvSpPr>
          <p:spPr>
            <a:xfrm>
              <a:off x="361950" y="2667000"/>
              <a:ext cx="2590800" cy="1143000"/>
            </a:xfrm>
            <a:prstGeom prst="rect">
              <a:avLst/>
            </a:prstGeom>
            <a:solidFill>
              <a:srgbClr val="0D3B6E"/>
            </a:solidFill>
            <a:ln cap="flat" cmpd="sng" w="14300">
              <a:solidFill>
                <a:srgbClr val="028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 txBox="1"/>
            <p:nvPr/>
          </p:nvSpPr>
          <p:spPr>
            <a:xfrm>
              <a:off x="457200" y="2762250"/>
              <a:ext cx="2400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Conception &amp; Réalisation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5"/>
            <p:cNvSpPr txBox="1"/>
            <p:nvPr/>
          </p:nvSpPr>
          <p:spPr>
            <a:xfrm>
              <a:off x="457200" y="3143250"/>
              <a:ext cx="2400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9CCE3"/>
                  </a:solidFill>
                  <a:latin typeface="Calibri"/>
                  <a:ea typeface="Calibri"/>
                  <a:cs typeface="Calibri"/>
                  <a:sym typeface="Calibri"/>
                </a:rPr>
                <a:t>Concevoir et réaliser un bras robotisé Pan &amp; Tilt via impression 3D.</a:t>
              </a:r>
              <a:endParaRPr b="0" sz="1100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5"/>
          <p:cNvGrpSpPr/>
          <p:nvPr/>
        </p:nvGrpSpPr>
        <p:grpSpPr>
          <a:xfrm>
            <a:off x="3276600" y="2667000"/>
            <a:ext cx="2590800" cy="1143000"/>
            <a:chOff x="3276600" y="2667000"/>
            <a:chExt cx="2590800" cy="1143000"/>
          </a:xfrm>
        </p:grpSpPr>
        <p:sp>
          <p:nvSpPr>
            <p:cNvPr id="43" name="Google Shape;43;p5"/>
            <p:cNvSpPr/>
            <p:nvPr/>
          </p:nvSpPr>
          <p:spPr>
            <a:xfrm>
              <a:off x="3276600" y="2667000"/>
              <a:ext cx="2590800" cy="1143000"/>
            </a:xfrm>
            <a:prstGeom prst="rect">
              <a:avLst/>
            </a:prstGeom>
            <a:solidFill>
              <a:srgbClr val="0D3B6E"/>
            </a:solidFill>
            <a:ln cap="flat" cmpd="sng" w="14300">
              <a:solidFill>
                <a:srgbClr val="028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5"/>
            <p:cNvSpPr txBox="1"/>
            <p:nvPr/>
          </p:nvSpPr>
          <p:spPr>
            <a:xfrm>
              <a:off x="3371850" y="2762250"/>
              <a:ext cx="2400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Pilotage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 txBox="1"/>
            <p:nvPr/>
          </p:nvSpPr>
          <p:spPr>
            <a:xfrm>
              <a:off x="3371850" y="3143250"/>
              <a:ext cx="2400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9CCE3"/>
                  </a:solidFill>
                  <a:latin typeface="Calibri"/>
                  <a:ea typeface="Calibri"/>
                  <a:cs typeface="Calibri"/>
                  <a:sym typeface="Calibri"/>
                </a:rPr>
                <a:t>Piloter le bras robotisé à l'aide de moteurs pas à pas et de drivers GPIO.</a:t>
              </a:r>
              <a:endParaRPr b="0" sz="1100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5"/>
          <p:cNvGrpSpPr/>
          <p:nvPr/>
        </p:nvGrpSpPr>
        <p:grpSpPr>
          <a:xfrm>
            <a:off x="6191250" y="2667000"/>
            <a:ext cx="2590800" cy="1143000"/>
            <a:chOff x="6191250" y="2667000"/>
            <a:chExt cx="2590800" cy="1143000"/>
          </a:xfrm>
        </p:grpSpPr>
        <p:sp>
          <p:nvSpPr>
            <p:cNvPr id="47" name="Google Shape;47;p5"/>
            <p:cNvSpPr/>
            <p:nvPr/>
          </p:nvSpPr>
          <p:spPr>
            <a:xfrm>
              <a:off x="6191250" y="2667000"/>
              <a:ext cx="2590800" cy="1143000"/>
            </a:xfrm>
            <a:prstGeom prst="rect">
              <a:avLst/>
            </a:prstGeom>
            <a:solidFill>
              <a:srgbClr val="0D3B6E"/>
            </a:solidFill>
            <a:ln cap="flat" cmpd="sng" w="14300">
              <a:solidFill>
                <a:srgbClr val="028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 txBox="1"/>
            <p:nvPr/>
          </p:nvSpPr>
          <p:spPr>
            <a:xfrm>
              <a:off x="6286500" y="2762250"/>
              <a:ext cx="2400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Asservissement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5"/>
            <p:cNvSpPr txBox="1"/>
            <p:nvPr/>
          </p:nvSpPr>
          <p:spPr>
            <a:xfrm>
              <a:off x="6286500" y="3143250"/>
              <a:ext cx="2400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9CCE3"/>
                  </a:solidFill>
                  <a:latin typeface="Calibri"/>
                  <a:ea typeface="Calibri"/>
                  <a:cs typeface="Calibri"/>
                  <a:sym typeface="Calibri"/>
                </a:rPr>
                <a:t>Asservissement du système pour un pointage d'antenne Wi-Fi précis.</a:t>
              </a:r>
              <a:endParaRPr b="0" sz="1100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p5"/>
          <p:cNvSpPr txBox="1"/>
          <p:nvPr/>
        </p:nvSpPr>
        <p:spPr>
          <a:xfrm>
            <a:off x="361950" y="4743450"/>
            <a:ext cx="841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ENSEA – Présentation de projet 2/7</a:t>
            </a:r>
            <a:endParaRPr b="0" sz="1000">
              <a:solidFill>
                <a:srgbClr val="5D8A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Partie mécanique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65760" y="1280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rPr>
              <a:t>Partie Mécanique – Bras Robotisé &amp; Antenne Wi-Fi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365760" y="1828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365760" y="2240280"/>
            <a:ext cx="8412480" cy="27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388675" y="1751423"/>
            <a:ext cx="53034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400"/>
              <a:buFont typeface="Calibri"/>
              <a:buNone/>
            </a:pPr>
            <a:r>
              <a:rPr lang="en-US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- Conception</a:t>
            </a:r>
            <a:endParaRPr>
              <a:solidFill>
                <a:srgbClr val="D6EA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400"/>
              <a:buFont typeface="Calibri"/>
              <a:buNone/>
            </a:pPr>
            <a:r>
              <a:rPr lang="en-US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- Assemblage</a:t>
            </a:r>
            <a:endParaRPr>
              <a:solidFill>
                <a:srgbClr val="D6EA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208475" y="2866038"/>
            <a:ext cx="2583300" cy="798000"/>
          </a:xfrm>
          <a:prstGeom prst="rect">
            <a:avLst/>
          </a:prstGeom>
          <a:solidFill>
            <a:srgbClr val="0D3B6E"/>
          </a:solidFill>
          <a:ln cap="flat" cmpd="sng" w="139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sp>
        <p:nvSpPr>
          <p:cNvPr id="63" name="Google Shape;63;p6"/>
          <p:cNvSpPr/>
          <p:nvPr/>
        </p:nvSpPr>
        <p:spPr>
          <a:xfrm>
            <a:off x="302802" y="2893684"/>
            <a:ext cx="28707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7"/>
              <a:buFont typeface="Calibri"/>
              <a:buNone/>
            </a:pPr>
            <a:r>
              <a:rPr b="1" i="0" lang="en-US" sz="14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Stabilité</a:t>
            </a:r>
            <a:endParaRPr b="0" i="0" sz="14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02802" y="3183533"/>
            <a:ext cx="28707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1208"/>
              <a:buFont typeface="Calibri"/>
              <a:buNone/>
            </a:pPr>
            <a:r>
              <a:rPr b="0" i="0" lang="en-US" sz="1208" u="none" cap="none" strike="noStrike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rPr>
              <a:t>Structure solide, zéro vibration</a:t>
            </a:r>
            <a:endParaRPr b="0" i="0" sz="12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017538" y="2866038"/>
            <a:ext cx="2700300" cy="798000"/>
          </a:xfrm>
          <a:prstGeom prst="rect">
            <a:avLst/>
          </a:prstGeom>
          <a:solidFill>
            <a:srgbClr val="0D3B6E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15043" y="2908526"/>
            <a:ext cx="2615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Légèreté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115031" y="3200783"/>
            <a:ext cx="261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rPr>
              <a:t>Compatible moteurs pas à pas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943625" y="2866038"/>
            <a:ext cx="2834700" cy="798000"/>
          </a:xfrm>
          <a:prstGeom prst="rect">
            <a:avLst/>
          </a:prstGeom>
          <a:solidFill>
            <a:srgbClr val="0D3B6E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6053400" y="2926837"/>
            <a:ext cx="261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053403" y="3210685"/>
            <a:ext cx="26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CE3"/>
                </a:solidFill>
                <a:latin typeface="Calibri"/>
                <a:ea typeface="Calibri"/>
                <a:cs typeface="Calibri"/>
                <a:sym typeface="Calibri"/>
              </a:rPr>
              <a:t>Orientation de l'antenne fiable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65710" y="4747005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8A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8AA8"/>
                </a:solidFill>
                <a:latin typeface="Calibri"/>
                <a:ea typeface="Calibri"/>
                <a:cs typeface="Calibri"/>
                <a:sym typeface="Calibri"/>
              </a:rPr>
              <a:t>ENSEA – Présentation de projet 3/7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6FB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Réalisation &amp; Bilan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20040" y="1051560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320040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14400" y="960120"/>
            <a:ext cx="37490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F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1005840" y="10149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Conception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1005840" y="127101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Choix d'un modèle multi-articulations, critère principal : stabilité et compacité.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20040" y="2029968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320040" y="20299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914400" y="1938528"/>
            <a:ext cx="37490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F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1005840" y="199339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Pièces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005840" y="2249424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Identification des composants (supports, axes, fixations) ; commande et récupération à l'ENSEA.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20040" y="3008376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320040" y="30083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914400" y="2916936"/>
            <a:ext cx="37490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F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1005840" y="297180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Impression 3D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005840" y="3227832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Fabrication sur mesure de pièces spécifiques, modifications rapides en cas de problème.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20040" y="3986784"/>
            <a:ext cx="502920" cy="50292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320040" y="39867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14400" y="3895344"/>
            <a:ext cx="37490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F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1005840" y="39502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Assemblage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005840" y="4206240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Montage précis des articulations pour garantir l'alignement et la fluidité des mouvements.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892040" y="960120"/>
            <a:ext cx="3931920" cy="1508760"/>
          </a:xfrm>
          <a:prstGeom prst="rect">
            <a:avLst/>
          </a:prstGeom>
          <a:solidFill>
            <a:srgbClr val="FEF9E7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⚠  Difficultés rencontrées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029200" y="1353312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Pièces imprimées trop fragiles ou imprécises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Jeu dans les articulations → mouvements moins fluides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D4037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Solution : réimpression avec dimensions ajustées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892040" y="2606040"/>
            <a:ext cx="3931920" cy="22402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029200" y="26700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que nous avons appris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0" y="3090672"/>
            <a:ext cx="201168" cy="20116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321808" y="3054096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Adapter un modèle existant à un besoin précis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029200" y="3529584"/>
            <a:ext cx="201168" cy="20116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321808" y="349300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Utiliser l'impression 3D de façon concrète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0" y="3968496"/>
            <a:ext cx="201168" cy="20116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5321808" y="39319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Résoudre des problèmes techniques itérativement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0" y="4407408"/>
            <a:ext cx="201168" cy="20116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321808" y="437083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physique indispensable au suivi de l'antenne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Projet Électronique – ENSEA 4/7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190225" y="103650"/>
            <a:ext cx="845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Partie électronique et informatique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772150" y="642938"/>
            <a:ext cx="2886075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 txBox="1"/>
          <p:nvPr/>
        </p:nvSpPr>
        <p:spPr>
          <a:xfrm>
            <a:off x="0" y="1203225"/>
            <a:ext cx="84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231" y="1611137"/>
            <a:ext cx="4999620" cy="19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320040" y="4828032"/>
            <a:ext cx="850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Projet Électronique – ENSEA 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5/7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700" y="1355588"/>
            <a:ext cx="248602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0788" y="1350825"/>
            <a:ext cx="2486025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 txBox="1"/>
          <p:nvPr/>
        </p:nvSpPr>
        <p:spPr>
          <a:xfrm>
            <a:off x="154925" y="78325"/>
            <a:ext cx="852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Partie électronique et informatique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22675" y="914400"/>
            <a:ext cx="3506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Création des fonctions et des fichiers: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Fichiers :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utils.h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utils.c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Fonctions :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Moteur_AllerA_Angle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setup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HAL_UART_RxCpltCallback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5546200" y="4558700"/>
            <a:ext cx="40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p9"/>
          <p:cNvSpPr txBox="1"/>
          <p:nvPr/>
        </p:nvSpPr>
        <p:spPr>
          <a:xfrm>
            <a:off x="80075" y="3287088"/>
            <a:ext cx="8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320040" y="4828032"/>
            <a:ext cx="850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Projet Électronique – ENSEA 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6/7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9144000" cy="8193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381000" y="0"/>
            <a:ext cx="8382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: Bilan du Projet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81000" y="1143000"/>
            <a:ext cx="4000500" cy="323850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571500" y="1285875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Points Positifs</a:t>
            </a:r>
            <a:endParaRPr b="1" sz="1800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571500" y="1762125"/>
            <a:ext cx="36195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Maîtrise technique :</a:t>
            </a: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Intégration réussie de l'électronique et de la mécanique.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Prototypage agile :</a:t>
            </a: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Utilisation efficace de l'impression 3D pour itérer.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Stabilité logicielle :</a:t>
            </a: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Fonctions C robustes pour le pilotage des moteurs.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Apprentissage :</a:t>
            </a: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Compréhension approfondie des drivers et des microcontrôleurs.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762500" y="1143000"/>
            <a:ext cx="4000500" cy="323850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4953000" y="1285875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Axes d'Amélioration</a:t>
            </a:r>
            <a:endParaRPr b="1" sz="1800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4953000" y="1762125"/>
            <a:ext cx="36195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Précision mécanique :</a:t>
            </a: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Jeux persistants dans certaines articulations du bras.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Fragilité :</a:t>
            </a: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Certaines pièces 3D nécessitent un renforcement structurel.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Optimisation :</a:t>
            </a:r>
            <a:r>
              <a:rPr b="0"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Fluidité des mouvements à parfaire pour un suivi temps réel optimal.</a:t>
            </a:r>
            <a:endParaRPr b="0" sz="12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381000" y="4667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Projet Électronique – ENSEA 7/7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